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63F7D"/>
                </a:solidFill>
              </a:defRPr>
            </a:pPr>
            <a:r>
              <a:t>马德里—安达卢西亚 15天自驾路书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3464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2200">
                <a:solidFill>
                  <a:srgbClr val="232323"/>
                </a:solidFill>
              </a:defRPr>
            </a:pPr>
            <a:r>
              <a:t>4.27–5.12｜马德里机场取还车</a:t>
            </a:r>
            <a:br/>
            <a:r>
              <a:t>5.11 晚还车，5.12 早班机返程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E91A3"/>
                </a:solidFill>
              </a:defRPr>
            </a:pPr>
            <a:r>
              <a:t>路线：马德里 → 安达卢西亚环线 → 马德里机场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F7D"/>
                </a:solidFill>
              </a:defRPr>
            </a:pPr>
            <a:r>
              <a:t>行程总览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91A3"/>
                </a:solidFill>
              </a:defRPr>
            </a:pPr>
            <a:r>
              <a:t>覆盖艺术名城、白色小镇、海峡海岸与摩尔文化遗产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总时长：16天（15晚）｜核心区域：马德里 + 安达卢西亚环线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主线城市：马德里 → 托莱多 → 科尔多瓦 → 塞维利亚 → 龙达 → 白色小镇 → 加的斯 → 直布罗陀/塔里法 → 马拉加 → 返程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旅行风格：历史文化 + 海滨休闲 + 山城风景 + 城市漫游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驾驶节奏：短中途为主，最后两天集中北返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F7D"/>
                </a:solidFill>
              </a:defRPr>
            </a:pPr>
            <a:r>
              <a:t>出行与准备建议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91A3"/>
                </a:solidFill>
              </a:defRPr>
            </a:pPr>
            <a:r>
              <a:t>建议准备：墨镜、防晒、舒适步行鞋、轻量保暖层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天气：整体晴好、降雨少，昼夜温差大（约 12–31℃）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穿衣：洋葱式搭配（短袖/薄长袖 + 可脱薄外套），海边与山地准备防风层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驾驶：城市老城优先停外围停车场，古城中心以步行参观为主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关键节点：5.11 晚马德里机场还车 + 机场周边住宿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1｜4.27 周一｜抵达马德里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行程：机场取车 → 入住酒店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住宿：马德里（1晚）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天气：12–25℃，晴/多云，早晚凉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穿衣：薄外套 + 长袖/衬衫，舒适便鞋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以休整为主，适应时差与驾驶节奏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熟悉酒店与停车动线，补给水和零食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2｜4.28 周二｜马德里市区经典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行程：马德里经典文化线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住宿：马德里（1晚）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天气：13–26℃，晴朗干燥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 + 薄防晒外套，帽子墨镜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普拉多博物馆（艺术殿堂）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马德里王宫（巴洛克建筑）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马约尔广场 / 太阳门 / 丽池公园（城市地标）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3｜4.29 周三｜马德里→托莱多（70km/1h）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行程：三文化古城深度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住宿：托莱多或当晚直达科尔多瓦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天气：12–27℃，阳光充足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 + 薄外套，舒适步行鞋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托莱多观景台（古城全景）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托莱多大教堂（哥特建筑）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老城区 + 圣马丁桥（三文化交汇）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4｜4.30 周四｜科尔多瓦全日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行程：科尔多瓦经典一日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住宿：科尔多瓦（1晚）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天气：15–29℃，晴热干燥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穿衣：短袖、防晒衫、长裤/长裙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清真寺-大教堂（世界遗产）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古罗马桥（千年地标）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百花巷 + 老城区庭院小巷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5｜5.1 周五｜科尔多瓦→塞维利亚（140km/1.5h）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行程：抵达后游览核心地标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住宿：塞维利亚（2晚）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天气：16–30℃，晴朗干燥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穿衣：夏装为主，薄外套备用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塞维利亚大教堂 + 吉拉尔达塔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塞维利亚王宫（《权游》取景地）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圣十字区漫步 + 晚间弗拉门戈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E91A3"/>
                </a:solidFill>
              </a:defRPr>
            </a:pPr>
            <a:r>
              <a:t>提示：弗拉门戈推荐：Casa de la Memoria / Tablao Los Gallos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6｜5.2 周六｜塞维利亚全日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行程：休闲深度游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住宿：塞维利亚（1晚）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天气：16–31℃，晴天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穿衣：短袖、防晒、舒适步行鞋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西班牙广场（半圆回廊+护城河）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玛丽亚路易莎公园（休闲散步）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黄金塔 + 河畔黄昏氛围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E91A3"/>
                </a:solidFill>
              </a:defRPr>
            </a:pPr>
            <a:r>
              <a:t>提示：可选第二场弗拉门戈（博物馆庭院更本地）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7｜5.3 周日｜塞维利亚→龙达（130km/2h）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行程：悬崖天空之城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住宿：龙达（1晚）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天气：14–28℃，山区早晚偏凉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 + 薄外套，早晚防风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龙达新桥（120m峡谷奇观）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老城区（海明威笔下名城）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峡谷步道 + 斗牛场（可参观博物馆）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8｜5.4 周一｜龙达→奥尔韦拉→阿尔科斯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行程：白色小镇之路（100km/2.5h）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住宿：阿尔科斯（1晚）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天气：15–29℃，晴好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 + 薄外套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奥尔韦拉（静谧山城）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阿尔科斯-德拉弗龙特拉（悬崖白镇）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沿途观景台与安达卢西亚乡野风光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9｜5.5 周二｜阿尔科斯→赫雷斯→桑卢卡尔→加的斯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行程：雪莉酒 + 海鲜 + 海滨古城（80km/1.5h）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住宿：加的斯（2晚）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天气：16–27℃，海风较大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 + 防风外套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赫雷斯（雪莉酒故乡，酒庄参观）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桑卢卡尔（河口海鲜名镇）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加的斯老城（欧洲古老海滨城市）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10｜5.6 周三｜加的斯休闲日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行程：海滨慢旅行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住宿：加的斯（1晚）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天气：15–26℃，海边舒适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穿衣：短袖、薄外套、沙滩鞋备用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加的斯海滩（放松看海）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加的斯大教堂（金色穹顶）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老城区市集与海鲜小馆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11｜5.7 周四｜加的斯→直布罗陀→塔里法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行程：海峡全景线（约120km）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住宿：塔里法（1晚）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天气：14–25℃，风非常大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穿衣：防风外套必带，短袖+长裤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直布罗陀巨岩观景台 + 欧罗巴角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塔里法角（欧洲最南端）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海峡观景台（远眺摩洛哥海岸线）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E91A3"/>
                </a:solidFill>
              </a:defRPr>
            </a:pPr>
            <a:r>
              <a:t>提示：建议车停La Línea步行过关，1.5–2小时游览直布罗陀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12｜5.8 周五｜塔里法→马拉加（180km/2.5h）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行程：阳光海岸首府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住宿：马拉加（2晚）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天气：16–27℃，晴，海风舒适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 + 薄外套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马拉加港（地中海码头风情）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马拉加海滩（城市休闲）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老城区（小广场与塔帕斯）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13｜5.9 周六｜马拉加全日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行程：文化 + 城堡全景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住宿：马拉加（1晚）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天气：17–28℃，晴朗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穿衣：夏装、防晒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阿尔卡萨瓦城堡（俯瞰全城）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毕加索博物馆（艺术主题）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马拉加大教堂 + 老城区深度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14｜5.10 周日｜马拉加→格拉纳达（路过）→科尔多瓦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行程：返程北上（约4h车程）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住宿：科尔多瓦（1晚）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天气：16–29℃，一路晴好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穿衣：短袖 + 薄外套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格拉纳达阿尔拜辛区（外观路过）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观景台远眺阿尔罕布拉宫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夜宿科尔多瓦，为次日返马德里做准备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15｜5.11 周一｜科尔多瓦→马德里机场（400km/4h）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行程：上午补逛，下午返程，晚间还车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住宿：马德里机场周边（1晚）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天气：12–25℃，早晚凉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穿衣：薄外套 + 短袖，便于长途驾驶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可选：科尔多瓦王宫 / 犹太区 / 河滨步道（3选1-2）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下午直驱马德里机场，完成还车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晚间可机动安排：Las Ventas外观或伯纳乌周边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F7D"/>
                </a:solidFill>
              </a:defRPr>
            </a:pPr>
            <a:r>
              <a:t>Day 16｜5.12 周二｜马德里机场返程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0" cy="4480560"/>
          </a:xfrm>
          <a:prstGeom prst="roundRect">
            <a:avLst/>
          </a:prstGeom>
          <a:solidFill>
            <a:srgbClr val="E8F0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行程：酒店 → 机场值机 → 返程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住宿：行程结束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天气：清晨出发</a:t>
            </a:r>
          </a:p>
          <a:p>
            <a:pPr>
              <a:lnSpc>
                <a:spcPct val="135000"/>
              </a:lnSpc>
              <a:defRPr sz="1600">
                <a:solidFill>
                  <a:srgbClr val="232323"/>
                </a:solidFill>
              </a:defRPr>
            </a:pPr>
            <a:r>
              <a:t>穿衣：轻便分层，保暖可脱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806440" cy="4480560"/>
          </a:xfrm>
          <a:prstGeom prst="roundRect">
            <a:avLst/>
          </a:prstGeom>
          <a:solidFill>
            <a:srgbClr val="ECF9F9"/>
          </a:solidFill>
          <a:ln>
            <a:solidFill>
              <a:srgbClr val="B4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361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91A3"/>
                </a:solidFill>
              </a:defRPr>
            </a:pPr>
            <a:r>
              <a:t>重点景点 / 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20240"/>
            <a:ext cx="5394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建议提前抵达机场办理手续</a:t>
            </a:r>
          </a:p>
          <a:p>
            <a:pPr>
              <a:lnSpc>
                <a:spcPct val="125000"/>
              </a:lnSpc>
              <a:defRPr sz="1500">
                <a:solidFill>
                  <a:srgbClr val="232323"/>
                </a:solidFill>
              </a:defRPr>
            </a:pPr>
            <a:r>
              <a:t>完成15天西班牙自驾闭环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F7D"/>
                </a:solidFill>
              </a:defRPr>
            </a:pPr>
            <a:r>
              <a:t>重点体验推荐（可作为讲解亮点）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91A3"/>
                </a:solidFill>
              </a:defRPr>
            </a:pPr>
            <a:r>
              <a:t>建议演示时按“文化—风景—海岸—返程”叙事顺序讲述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艺术与历史：普拉多博物馆、托莱多大教堂、科尔多瓦清真寺-大教堂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安达卢西亚精华：塞维利亚王宫、龙达新桥、白色小镇群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海峡与海岸：加的斯海滨、直布罗陀海峡、塔里法两海交汇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城市休闲：马拉加港口与老城、海边慢节奏与美食体验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3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F7D"/>
                </a:solidFill>
              </a:defRPr>
            </a:pPr>
            <a:r>
              <a:t>执行清单（出发前确认）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91A3"/>
                </a:solidFill>
              </a:defRPr>
            </a:pPr>
            <a:r>
              <a:t>祝旅途顺利、一路晴天！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证件：护照、驾照+翻译件/国际驾照认证、租车材料、保险文件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车辆：异地加油规则、停车App/停车场策略、道路限速与收费路段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预订：热门景点门票（普拉多、王宫、塞维利亚王宫、弗拉门戈）尽量提前</a:t>
            </a:r>
          </a:p>
          <a:p>
            <a:pPr>
              <a:lnSpc>
                <a:spcPct val="135000"/>
              </a:lnSpc>
              <a:defRPr sz="2100">
                <a:solidFill>
                  <a:srgbClr val="232323"/>
                </a:solidFill>
              </a:defRPr>
            </a:pPr>
            <a:r>
              <a:t>时间管理：直布罗陀过关、5.11长途返程与机场还车预留缓冲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
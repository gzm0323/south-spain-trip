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马德里—安达卢西亚 15天自驾路书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每日一页演示版（One Slide per Day）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881360" cy="3840480"/>
          </a:xfrm>
          <a:prstGeom prst="roundRect">
            <a:avLst/>
          </a:prstGeom>
          <a:solidFill>
            <a:srgbClr val="E8F2FC"/>
          </a:solidFill>
          <a:ln>
            <a:solidFill>
              <a:srgbClr val="B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102412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结构说明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Day 1–Day 16 每日独立1页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每页包含：行程/住宿/天气/穿衣 + 当日亮点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• 适合按天汇报或现场讲解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1｜4.27 周一｜抵达马德里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行程：机场取车 → 入住酒店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住宿：马德里（1晚）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天气：12–25℃，晴/多云，早晚凉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穿衣：薄外套 + 长袖/衬衫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以休整为主，适应时差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熟悉取还车流程与停车动线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2｜4.28 周二｜马德里市区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行程：马德里经典+艺术核心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住宿：马德里（1晚）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天气：13–26℃，晴朗干燥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 + 薄防晒外套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普拉多博物馆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马德里王宫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马约尔广场 / 太阳门 / 丽池公园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3｜4.29 周三｜马德里→托莱多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约 70km / 1h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行程：三文化古城深度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住宿：托莱多 或 直达科尔多瓦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天气：12–27℃，阳光充足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 + 薄外套，舒适步行鞋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托莱多观景台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托莱多大教堂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托莱多老城 + 圣马丁桥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4｜4.30 周四｜科尔多瓦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行程：科尔多瓦经典一日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住宿：科尔多瓦（1晚）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天气：15–29℃，晴热干燥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穿衣：短袖、防晒衫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清真寺-大教堂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古罗马桥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百花巷 + 老城区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5｜5.1 周五｜科尔多瓦→塞维利亚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约 140km / 1.5h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行程：塞维利亚核心地标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住宿：塞维利亚（2晚）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天气：16–30℃，晴朗干燥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穿衣：夏装为主，薄外套备用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塞维利亚大教堂 + 吉拉尔达塔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塞维利亚王宫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圣十字区 + 弗拉门戈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6｜5.2 周六｜塞维利亚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行程：休闲深度游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住宿：塞维利亚（1晚）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天气：16–31℃，晴天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穿衣：短袖、防晒、舒适步行鞋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西班牙广场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玛丽亚路易莎公园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黄金塔 + 河畔黄昏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提示：可选第二场弗拉门戈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7｜5.3 周日｜塞维利亚→龙达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约 130km / 2h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行程：悬崖天空之城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住宿：龙达（1晚）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天气：14–28℃，山区早晚偏凉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 + 薄外套，早晚防风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龙达新桥（峡谷奇观）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龙达老城区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峡谷步道 + 斗牛场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8｜5.4 周一｜龙达→奥尔韦拉→阿尔科斯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约 100km / 2.5h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行程：白色小镇之路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住宿：阿尔科斯（1晚）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天气：15–29℃，晴好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 + 薄外套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奥尔韦拉白色山城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阿尔科斯悬崖小镇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沿途乡野风光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9｜5.5 周二｜阿尔科斯→赫雷斯→桑卢卡尔→加的斯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约 80km / 1.5h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行程：雪莉酒 + 海鲜 + 海滨古城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住宿：加的斯（2晚）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天气：16–27℃，海风较大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 + 防风外套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赫雷斯酒庄文化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桑卢卡尔河口海鲜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加的斯老城区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10｜5.6 周三｜加的斯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行程：海滨慢旅行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住宿：加的斯（1晚）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天气：15–26℃，海边舒适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穿衣：短袖、薄外套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加的斯海滩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加的斯大教堂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老城区闲逛 + 市集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11｜5.7 周四｜加的斯→直布罗陀→塔里法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加的斯→直布罗陀约1h45m，后至塔里法约40m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行程：欧洲最南端海峡全景线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住宿：塔里法（1晚）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天气：14–25℃，风非常大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穿衣：防风外套必带，短袖+长裤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直布罗陀巨岩观景台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欧罗巴角灯塔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塔里法角 + 海峡观景台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提示：建议车停 La Línea，步行过关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12｜5.8 周五｜塔里法→马拉加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约 180km / 2h30m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行程：阳光海岸首府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住宿：马拉加（2晚）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天气：16–27℃，晴，海风舒适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 + 薄外套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马拉加港口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马拉加海滩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老城区漫步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13｜5.9 周六｜马拉加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行程：毕加索故乡 + 城堡全景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住宿：马拉加（1晚）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天气：17–28℃，晴朗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穿衣：夏装、防晒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阿尔卡萨瓦城堡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毕加索博物馆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马拉加大教堂 + 老城区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14｜5.10 周日｜马拉加→格拉纳达（路过）→科尔多瓦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全程约 4h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行程：返程北上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住宿：科尔多瓦（1晚）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天气：16–29℃，一路晴好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穿衣：短袖 + 薄外套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阿尔拜辛区（外观）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观景台远眺阿尔罕布拉宫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夜宿科尔多瓦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15｜5.11 周一｜科尔多瓦→马德里机场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约 400km / 4h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行程：上午补逛 → 下午返程 → 晚间还车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住宿：马德里机场周边（1晚）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天气：12–25℃，早晚凉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穿衣：薄外套 + 短袖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可选：王宫 / 犹太区 / 河滨步道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下午直驱马德里机场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晚间完成还车与入住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Day 16｜5.12 周二｜马德里机场返程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行程信息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行程：早班机返程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住宿：行程结束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天气：清晨出发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穿衣：轻便分层保暖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3736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737360"/>
            <a:ext cx="5440680" cy="457200"/>
          </a:xfrm>
          <a:prstGeom prst="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81051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当日亮点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8600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提前到达机场办理手续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结束15天安达卢西亚自驾闭环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53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3C76"/>
                </a:solidFill>
              </a:defRPr>
            </a:pPr>
            <a:r>
              <a:t>行程收尾与执行提醒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612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090A0"/>
                </a:solidFill>
              </a:defRPr>
            </a:pPr>
            <a:r>
              <a:t>5.11 晚还车，5.12 早班机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solidFill>
            <a:srgbClr val="41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0195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最后检查清单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95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证件与租车文件：护照 / 驾照资料 / 保险信息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还车准备：油量、车况拍照、还车地点与时间窗口确认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机场衔接：建议预留充足安检与托运行李时间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祝旅途顺利，演示成功！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
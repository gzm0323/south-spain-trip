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马德里—安达卢西亚 15天自驾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4.27–5.12｜行程示意版（演示用）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10789920" cy="3474720"/>
          </a:xfrm>
          <a:prstGeom prst="roundRect">
            <a:avLst/>
          </a:prstGeom>
          <a:solidFill>
            <a:srgbClr val="E8F2FC"/>
          </a:solidFill>
          <a:ln>
            <a:solidFill>
              <a:srgbClr val="B7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00584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33468"/>
                </a:solidFill>
              </a:defRPr>
            </a:pPr>
            <a:r>
              <a:t>路线主轴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马德里 → 托莱多 → 科尔多瓦 → 塞维利亚 → 龙达/白色小镇</a:t>
            </a:r>
          </a:p>
          <a:p>
            <a:pPr>
              <a:defRPr sz="2200">
                <a:solidFill>
                  <a:srgbClr val="282828"/>
                </a:solidFill>
              </a:defRPr>
            </a:pPr>
            <a:r>
              <a:t>→ 加的斯 → 直布罗陀/塔里法 → 马拉加 → 科尔多瓦 → 马德里机场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阶段 1：文化古都起步（Day 1–4）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马德里 / 托莱多 / 科尔多瓦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0749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1：抵达马德里，机场取车，调整状态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2：马德里市区（普拉多、王宫、广场与公园）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3：马德里→托莱多（70km/1h）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4：科尔多瓦全日（清真寺-大教堂、古罗马桥）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177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关键词：艺术 / 王都 / 三文化古城 / 摩尔遗产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驾驶节奏：短途为主，步行游览密集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建议：热门景点门票提前预订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阶段 2：安达卢西亚核心（Day 5–8）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塞维利亚 / 龙达 / 白色小镇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0749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5：科尔多瓦→塞维利亚（140km/1.5h）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6：塞维利亚全日（西班牙广场、河畔）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7：塞维利亚→龙达（130km/2h）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8：龙达→奥尔韦拉→阿尔科斯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177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关键词：王宫 / 弗拉门戈 / 悬崖新桥 / 白色小镇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体验亮点：夜间演出 + 山城观景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穿衣提示：山区早晚偏凉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阶段 3：海岸与海峡（Day 9–11）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加的斯 / 直布罗陀 / 塔里法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0749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9：阿尔科斯→赫雷斯→桑卢卡尔→加的斯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10：加的斯休闲日（海滩、老城）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11：加的斯→直布罗陀→塔里法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177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关键词：雪莉酒 / 海鲜 / 海滨古城 / 海峡景观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注意：直布罗陀建议边境停车后步行过关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风况：塔里法风大，防风外套必带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阶段 4：阳光海岸与返程（Day 12–16）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马拉加 / 格拉纳达（路过）/ 科尔多瓦 / 马德里机场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0749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12：塔里法→马拉加（180km/2.5h）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13：马拉加全日（城堡、毕加索博物馆）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14：马拉加→格拉纳达（路过）→科尔多瓦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15：科尔多瓦→马德里机场（400km/4h）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Day 16：早班机返程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937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61772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关键词：海港城市 / 艺术文化 / 长途北返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关键安排：5.11 晚间机场还车 + 机场附近住宿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建议：最后一天预留充足还车和安检时间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驾驶节奏示意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“短中途串联 + 末段集中返程”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955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短途段（轻松）：马德里→托莱多、科尔多瓦→塞维利亚、塞维利亚→龙达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中途段（观景）：白色小镇串联、加的斯沿线、塔里法→马拉加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长途段（关键）：科尔多瓦→马德里机场（约4小时）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总体建议：老城外围停车 + 城内步行；海边与山区留好风衣与防晒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33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33468"/>
                </a:solidFill>
              </a:defRPr>
            </a:pPr>
            <a:r>
              <a:t>总结与讲解顺序建议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919E"/>
                </a:solidFill>
              </a:defRPr>
            </a:pPr>
            <a:r>
              <a:t>用于汇报时的5分钟版本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6DF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195560" cy="4069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先讲路线框架：马德里入出 + 安达卢西亚环线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再讲四阶段亮点：文化古都 → 南部精华 → 海峡海岸 → 返程收束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最后讲执行重点：门票预订、过关策略、还车与航班衔接</a:t>
            </a:r>
          </a:p>
          <a:p>
            <a:pPr>
              <a:lnSpc>
                <a:spcPct val="125000"/>
              </a:lnSpc>
              <a:defRPr sz="1700">
                <a:solidFill>
                  <a:srgbClr val="282828"/>
                </a:solidFill>
              </a:defRPr>
            </a:pPr>
            <a:r>
              <a:t>一句话收尾：这是一条兼顾历史、风景、海岸与驾驶体验的高完成度线路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